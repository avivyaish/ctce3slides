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8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2"/>
    <p:restoredTop sz="94658"/>
  </p:normalViewPr>
  <p:slideViewPr>
    <p:cSldViewPr snapToGrid="0">
      <p:cViewPr varScale="1">
        <p:scale>
          <a:sx n="99" d="100"/>
          <a:sy n="99" d="100"/>
        </p:scale>
        <p:origin x="18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C9EC8-04B1-1748-8232-448A2CF0719C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F80A-0A31-4949-9908-C896EEF07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4F80A-0A31-4949-9908-C896EEF07C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51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4F80A-0A31-4949-9908-C896EEF07C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78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4F80A-0A31-4949-9908-C896EEF07C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70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4F80A-0A31-4949-9908-C896EEF07C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9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3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5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4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1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5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17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6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8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9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5C159-F54E-6647-907B-6D289C7636EE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89C73-B7B1-5747-9F20-51948D5A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9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81C1E-6609-821B-FB8D-8E6C95ADC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7146"/>
            <a:ext cx="9144000" cy="1817087"/>
          </a:xfrm>
        </p:spPr>
        <p:txBody>
          <a:bodyPr/>
          <a:lstStyle/>
          <a:p>
            <a:r>
              <a:rPr lang="en-US" dirty="0"/>
              <a:t>Overview of 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BB45A-457F-9BC5-A264-FE05C4BB6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38567"/>
            <a:ext cx="9144000" cy="932892"/>
          </a:xfrm>
        </p:spPr>
        <p:txBody>
          <a:bodyPr/>
          <a:lstStyle/>
          <a:p>
            <a:r>
              <a:rPr lang="en-US" dirty="0"/>
              <a:t>James Bartusek</a:t>
            </a:r>
          </a:p>
          <a:p>
            <a:r>
              <a:rPr lang="en-US" dirty="0"/>
              <a:t>Columbia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CA0E960-147A-36F6-48ED-9672FDFE668E}"/>
              </a:ext>
            </a:extLst>
          </p:cNvPr>
          <p:cNvSpPr txBox="1">
            <a:spLocks/>
          </p:cNvSpPr>
          <p:nvPr/>
        </p:nvSpPr>
        <p:spPr>
          <a:xfrm>
            <a:off x="1614617" y="5224891"/>
            <a:ext cx="9144000" cy="932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Crafting the </a:t>
            </a:r>
            <a:r>
              <a:rPr lang="en-US" dirty="0" err="1"/>
              <a:t>Cryptoeconomy</a:t>
            </a:r>
            <a:endParaRPr lang="en-US" dirty="0"/>
          </a:p>
          <a:p>
            <a:r>
              <a:rPr lang="en-US" dirty="0"/>
              <a:t>October 30, 2026</a:t>
            </a:r>
          </a:p>
        </p:txBody>
      </p:sp>
      <p:pic>
        <p:nvPicPr>
          <p:cNvPr id="6" name="Picture 6" descr="Quantum Computing Advance Begins New Era, IBM Says - The New York Times">
            <a:extLst>
              <a:ext uri="{FF2B5EF4-FFF2-40B4-BE49-F238E27FC236}">
                <a16:creationId xmlns:a16="http://schemas.microsoft.com/office/drawing/2014/main" id="{2C287D47-5437-CC61-3A1B-153A3ACB2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204" y="4437499"/>
            <a:ext cx="1432591" cy="214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Understanding the Bloch Sphere in Quantum Computing | Stephen Germain  posted on the topic | LinkedIn">
            <a:extLst>
              <a:ext uri="{FF2B5EF4-FFF2-40B4-BE49-F238E27FC236}">
                <a16:creationId xmlns:a16="http://schemas.microsoft.com/office/drawing/2014/main" id="{204A23D7-F0A3-8498-039F-C400D7E58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7643" y="2854233"/>
            <a:ext cx="1624593" cy="163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 series of fast-paced advances in Quantum Error Correction | Nature  Reviews Physics">
            <a:extLst>
              <a:ext uri="{FF2B5EF4-FFF2-40B4-BE49-F238E27FC236}">
                <a16:creationId xmlns:a16="http://schemas.microsoft.com/office/drawing/2014/main" id="{06AA10EE-4828-F98E-CBB5-05EE5A039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73" y="5195653"/>
            <a:ext cx="2099777" cy="119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947DF-C365-F2F4-26B1-E9C0E555A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8366" y="2727858"/>
            <a:ext cx="2366921" cy="134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2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1982-3306-510B-80EE-B0F868DE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Quantum Computer?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E5EDF-DCAA-6FE7-ADE8-86463A2A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3905"/>
            <a:ext cx="10515600" cy="2573381"/>
          </a:xfrm>
        </p:spPr>
        <p:txBody>
          <a:bodyPr>
            <a:normAutofit/>
          </a:bodyPr>
          <a:lstStyle/>
          <a:p>
            <a:r>
              <a:rPr lang="en-US" i="1" dirty="0"/>
              <a:t>Any</a:t>
            </a:r>
            <a:r>
              <a:rPr lang="en-US" dirty="0"/>
              <a:t> computer stores information in some physical system, and manipulates it according to some physical process </a:t>
            </a:r>
          </a:p>
          <a:p>
            <a:endParaRPr lang="en-US" i="1" dirty="0"/>
          </a:p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quantum </a:t>
            </a:r>
            <a:r>
              <a:rPr lang="en-US" dirty="0"/>
              <a:t>computer takes advantage of uniquely quantum-mechanical phenomena to store and process information: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A63A9-E6AF-ECFD-13C6-BC950ED5E56C}"/>
              </a:ext>
            </a:extLst>
          </p:cNvPr>
          <p:cNvSpPr txBox="1"/>
          <p:nvPr/>
        </p:nvSpPr>
        <p:spPr>
          <a:xfrm>
            <a:off x="1204878" y="5038235"/>
            <a:ext cx="2440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  <a:latin typeface="AkayaTelivigala" pitchFamily="2" charset="77"/>
                <a:cs typeface="AkayaTelivigala" pitchFamily="2" charset="77"/>
              </a:rPr>
              <a:t>Superposition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2C317-DB43-152F-AE0E-FBD20E686327}"/>
              </a:ext>
            </a:extLst>
          </p:cNvPr>
          <p:cNvSpPr txBox="1"/>
          <p:nvPr/>
        </p:nvSpPr>
        <p:spPr>
          <a:xfrm>
            <a:off x="4794596" y="5038234"/>
            <a:ext cx="21579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  <a:latin typeface="AkayaTelivigala" pitchFamily="2" charset="77"/>
                <a:cs typeface="AkayaTelivigala" pitchFamily="2" charset="77"/>
              </a:rPr>
              <a:t>Interference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C2C4F-651F-CF4F-5280-15E56EACD529}"/>
              </a:ext>
            </a:extLst>
          </p:cNvPr>
          <p:cNvSpPr txBox="1"/>
          <p:nvPr/>
        </p:nvSpPr>
        <p:spPr>
          <a:xfrm>
            <a:off x="8248443" y="5038234"/>
            <a:ext cx="2478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  <a:latin typeface="AkayaTelivigala" pitchFamily="2" charset="77"/>
                <a:cs typeface="AkayaTelivigala" pitchFamily="2" charset="77"/>
              </a:rPr>
              <a:t>Entanglement</a:t>
            </a:r>
          </a:p>
        </p:txBody>
      </p:sp>
    </p:spTree>
    <p:extLst>
      <p:ext uri="{BB962C8B-B14F-4D97-AF65-F5344CB8AC3E}">
        <p14:creationId xmlns:p14="http://schemas.microsoft.com/office/powerpoint/2010/main" val="119342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6325-2BA9-BC69-3B3A-B74A1B1F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/>
              <a:t>Superposition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9206-0822-A2F1-EF98-52717FDB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917248" cy="3547872"/>
          </a:xfrm>
        </p:spPr>
        <p:txBody>
          <a:bodyPr anchor="t">
            <a:normAutofit/>
          </a:bodyPr>
          <a:lstStyle/>
          <a:p>
            <a:r>
              <a:rPr lang="en-US" sz="2400" dirty="0"/>
              <a:t>An ordinary bit of information is either 0 or 1</a:t>
            </a:r>
          </a:p>
          <a:p>
            <a:pPr lvl="1"/>
            <a:endParaRPr lang="en-US" dirty="0"/>
          </a:p>
          <a:p>
            <a:r>
              <a:rPr lang="en-US" sz="2400" dirty="0"/>
              <a:t>A quantum bit (qubit) can exist in both possibilities simultaneously, only collapsing to 0 or 1 upon observation (measurement)</a:t>
            </a:r>
          </a:p>
          <a:p>
            <a:endParaRPr lang="en-US" sz="2200" dirty="0"/>
          </a:p>
        </p:txBody>
      </p:sp>
      <p:pic>
        <p:nvPicPr>
          <p:cNvPr id="4" name="Picture 4" descr="Understanding the Bloch Sphere in Quantum Computing | Stephen Germain  posted on the topic | LinkedIn">
            <a:extLst>
              <a:ext uri="{FF2B5EF4-FFF2-40B4-BE49-F238E27FC236}">
                <a16:creationId xmlns:a16="http://schemas.microsoft.com/office/drawing/2014/main" id="{F30F1857-B4EE-FEFE-9C94-07F08556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685800"/>
            <a:ext cx="5458968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41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162F-6BA6-1B09-D022-2B3C6368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Interference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4B17F-16F5-D727-FA54-A249E55C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189096" cy="3547872"/>
          </a:xfrm>
        </p:spPr>
        <p:txBody>
          <a:bodyPr anchor="t">
            <a:normAutofit/>
          </a:bodyPr>
          <a:lstStyle/>
          <a:p>
            <a:r>
              <a:rPr lang="en-US" sz="2400" dirty="0"/>
              <a:t>Waves can reinforce each other, or cancel out, depending on their relative phase</a:t>
            </a:r>
          </a:p>
          <a:p>
            <a:endParaRPr lang="en-US" sz="2400" dirty="0"/>
          </a:p>
          <a:p>
            <a:r>
              <a:rPr lang="en-US" sz="2400" dirty="0"/>
              <a:t>Quantum algorithms take advantage of the wave-like nature of particles to make useful answers more likely </a:t>
            </a:r>
          </a:p>
          <a:p>
            <a:endParaRPr lang="en-US" sz="2200" dirty="0"/>
          </a:p>
        </p:txBody>
      </p:sp>
      <p:pic>
        <p:nvPicPr>
          <p:cNvPr id="4" name="Picture 2" descr="Interference of waves - The Fizzics Organization">
            <a:extLst>
              <a:ext uri="{FF2B5EF4-FFF2-40B4-BE49-F238E27FC236}">
                <a16:creationId xmlns:a16="http://schemas.microsoft.com/office/drawing/2014/main" id="{8836DE92-42FA-167F-1467-7E52F6E12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743142"/>
            <a:ext cx="5458968" cy="337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79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E844-2158-DAA4-C020-7D820447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Entanglement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11A27-2514-B31D-A9EF-95A7C593B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176740" cy="3547872"/>
          </a:xfrm>
        </p:spPr>
        <p:txBody>
          <a:bodyPr anchor="t">
            <a:normAutofit/>
          </a:bodyPr>
          <a:lstStyle/>
          <a:p>
            <a:r>
              <a:rPr lang="en-US" sz="2400" dirty="0"/>
              <a:t>The behavior of quantum particles, even those far apart, can be linked </a:t>
            </a:r>
          </a:p>
          <a:p>
            <a:endParaRPr lang="en-US" sz="2400" dirty="0"/>
          </a:p>
          <a:p>
            <a:r>
              <a:rPr lang="en-US" sz="2400" dirty="0"/>
              <a:t>In such cases, the state of a joint system cannot be described by concatenating the state of each individual system</a:t>
            </a:r>
          </a:p>
          <a:p>
            <a:endParaRPr lang="en-US" sz="2200" dirty="0"/>
          </a:p>
        </p:txBody>
      </p:sp>
      <p:pic>
        <p:nvPicPr>
          <p:cNvPr id="4" name="Picture 6" descr="Experiments on 'entangled' quantum particles won the physics Nobel Prize">
            <a:extLst>
              <a:ext uri="{FF2B5EF4-FFF2-40B4-BE49-F238E27FC236}">
                <a16:creationId xmlns:a16="http://schemas.microsoft.com/office/drawing/2014/main" id="{11823BE1-8F5A-A85D-BE63-E0E2565C0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893665"/>
            <a:ext cx="5458968" cy="307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76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6F52-6367-79D2-3147-0C6AAC65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199F3-3E8C-11CD-A6AD-ABE55E067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1716"/>
          </a:xfrm>
        </p:spPr>
        <p:txBody>
          <a:bodyPr/>
          <a:lstStyle/>
          <a:p>
            <a:r>
              <a:rPr lang="en-US" dirty="0"/>
              <a:t>Some computational problems are known to have an extremely efficient quantum “shortcut”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6DFDA-23AC-DD05-D8D5-2AE46A38CBC5}"/>
              </a:ext>
            </a:extLst>
          </p:cNvPr>
          <p:cNvSpPr txBox="1"/>
          <p:nvPr/>
        </p:nvSpPr>
        <p:spPr>
          <a:xfrm>
            <a:off x="838200" y="3068534"/>
            <a:ext cx="5117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93427 x 64019 = 5981103113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0DEE0-5D75-50EB-406E-4AC6514E08E4}"/>
              </a:ext>
            </a:extLst>
          </p:cNvPr>
          <p:cNvSpPr txBox="1"/>
          <p:nvPr/>
        </p:nvSpPr>
        <p:spPr>
          <a:xfrm>
            <a:off x="6499654" y="3068534"/>
            <a:ext cx="3373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5981103113 = </a:t>
            </a:r>
            <a:r>
              <a:rPr lang="en-US" sz="2800" dirty="0">
                <a:solidFill>
                  <a:srgbClr val="C00000"/>
                </a:solidFill>
              </a:rPr>
              <a:t>?</a:t>
            </a:r>
            <a:r>
              <a:rPr lang="en-US" sz="2800" dirty="0">
                <a:solidFill>
                  <a:schemeClr val="accent1"/>
                </a:solidFill>
              </a:rPr>
              <a:t> x </a:t>
            </a:r>
            <a:r>
              <a:rPr lang="en-US" sz="28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58FB52-C491-3970-5A0B-09AFF9B8D1C6}"/>
              </a:ext>
            </a:extLst>
          </p:cNvPr>
          <p:cNvSpPr txBox="1">
            <a:spLocks/>
          </p:cNvSpPr>
          <p:nvPr/>
        </p:nvSpPr>
        <p:spPr>
          <a:xfrm>
            <a:off x="838200" y="4103384"/>
            <a:ext cx="10801865" cy="2253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Multiplication is easy…but </a:t>
            </a:r>
            <a:r>
              <a:rPr lang="en-US" i="1" dirty="0"/>
              <a:t>reversing</a:t>
            </a:r>
            <a:r>
              <a:rPr lang="en-US" dirty="0"/>
              <a:t> it can be much, much harder, even for (classical) computers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1994, Peter Shor showed that quantum computers can factor integers efficiently by taking advantage of superposition and interference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5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3BB1-787D-F440-E4CA-909318F6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115" y="368013"/>
            <a:ext cx="11629768" cy="957048"/>
          </a:xfrm>
        </p:spPr>
        <p:txBody>
          <a:bodyPr>
            <a:normAutofit/>
          </a:bodyPr>
          <a:lstStyle/>
          <a:p>
            <a:r>
              <a:rPr lang="en-US" sz="3600" b="1" dirty="0"/>
              <a:t>BUT</a:t>
            </a:r>
            <a:r>
              <a:rPr lang="en-US" sz="3600" dirty="0"/>
              <a:t>…not all problems admit a dramatic quantum shortcut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EDFB5-C6BB-723F-9A25-7BEDB81D0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05" y="1238043"/>
            <a:ext cx="7381618" cy="47084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Consider searching for a “needle in a haystack”:</a:t>
            </a:r>
            <a:endParaRPr lang="en-US" dirty="0"/>
          </a:p>
        </p:txBody>
      </p:sp>
      <p:sp>
        <p:nvSpPr>
          <p:cNvPr id="6" name="target_hash">
            <a:extLst>
              <a:ext uri="{FF2B5EF4-FFF2-40B4-BE49-F238E27FC236}">
                <a16:creationId xmlns:a16="http://schemas.microsoft.com/office/drawing/2014/main" id="{E098EDD6-9F6C-25D3-7C7C-14ED7910FB95}"/>
              </a:ext>
            </a:extLst>
          </p:cNvPr>
          <p:cNvSpPr>
            <a:spLocks noGrp="1"/>
          </p:cNvSpPr>
          <p:nvPr/>
        </p:nvSpPr>
        <p:spPr>
          <a:xfrm>
            <a:off x="6737470" y="1847184"/>
            <a:ext cx="4118404" cy="4616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000" b="1">
                <a:solidFill>
                  <a:srgbClr val="007C83"/>
                </a:solidFill>
                <a:latin typeface="Courier New"/>
                <a:ea typeface="Courier New"/>
                <a:cs typeface="Courier New"/>
              </a:defRPr>
            </a:pPr>
            <a:r>
              <a:rPr sz="2000" b="1" dirty="0">
                <a:solidFill>
                  <a:srgbClr val="007C83"/>
                </a:solidFill>
                <a:ea typeface="Courier New"/>
                <a:cs typeface="Courier New"/>
              </a:rPr>
              <a:t>f4707bd7…b273318e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DE147-4CDF-20FA-2DFC-433511834974}"/>
              </a:ext>
            </a:extLst>
          </p:cNvPr>
          <p:cNvSpPr txBox="1"/>
          <p:nvPr/>
        </p:nvSpPr>
        <p:spPr>
          <a:xfrm>
            <a:off x="1083995" y="1799917"/>
            <a:ext cx="5806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Which input produces this exact SHA-256 output?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C946ECF-7CF1-0B6B-4954-5A9D78996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47891"/>
              </p:ext>
            </p:extLst>
          </p:nvPr>
        </p:nvGraphicFramePr>
        <p:xfrm>
          <a:off x="1374689" y="2318058"/>
          <a:ext cx="77309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319">
                  <a:extLst>
                    <a:ext uri="{9D8B030D-6E8A-4147-A177-3AD203B41FA5}">
                      <a16:colId xmlns:a16="http://schemas.microsoft.com/office/drawing/2014/main" val="181058156"/>
                    </a:ext>
                  </a:extLst>
                </a:gridCol>
                <a:gridCol w="2735265">
                  <a:extLst>
                    <a:ext uri="{9D8B030D-6E8A-4147-A177-3AD203B41FA5}">
                      <a16:colId xmlns:a16="http://schemas.microsoft.com/office/drawing/2014/main" val="793212509"/>
                    </a:ext>
                  </a:extLst>
                </a:gridCol>
                <a:gridCol w="3727319">
                  <a:extLst>
                    <a:ext uri="{9D8B030D-6E8A-4147-A177-3AD203B41FA5}">
                      <a16:colId xmlns:a16="http://schemas.microsoft.com/office/drawing/2014/main" val="169550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Guess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SHA-256 output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28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 New"/>
                        </a:rPr>
                        <a:t>9af15b33…606529a0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</a:rPr>
                        <a:t>No match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488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 New"/>
                        </a:rPr>
                        <a:t>888b19a4…f5e56d32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</a:rPr>
                        <a:t>No match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619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 New"/>
                        </a:rPr>
                        <a:t>4fac6dbe…258c35b4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n-lt"/>
                          <a:ea typeface="Arial"/>
                          <a:cs typeface="Arial"/>
                        </a:rPr>
                        <a:t>No match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45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5837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7C83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f4707bd7…b273318e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Match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67126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45D9645-8CA3-C0FC-D588-BC62D902A584}"/>
              </a:ext>
            </a:extLst>
          </p:cNvPr>
          <p:cNvSpPr txBox="1"/>
          <p:nvPr/>
        </p:nvSpPr>
        <p:spPr>
          <a:xfrm>
            <a:off x="666905" y="4788960"/>
            <a:ext cx="10741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Learning that each previous guess was not a match does not help the computer choose its next guess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EB8B79-8D6C-D1E5-D167-2CAFC23CD1F8}"/>
              </a:ext>
            </a:extLst>
          </p:cNvPr>
          <p:cNvSpPr txBox="1"/>
          <p:nvPr/>
        </p:nvSpPr>
        <p:spPr>
          <a:xfrm>
            <a:off x="666904" y="5817667"/>
            <a:ext cx="104661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does not seem to be any mathematical “structure” in SHA-256 that the quantum computer can take advantage of to dramatically shortcut its search</a:t>
            </a:r>
          </a:p>
        </p:txBody>
      </p:sp>
    </p:spTree>
    <p:extLst>
      <p:ext uri="{BB962C8B-B14F-4D97-AF65-F5344CB8AC3E}">
        <p14:creationId xmlns:p14="http://schemas.microsoft.com/office/powerpoint/2010/main" val="408036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4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4CA75D-3F12-EA6C-F44E-4FB8BD730CDB}"/>
              </a:ext>
            </a:extLst>
          </p:cNvPr>
          <p:cNvSpPr txBox="1"/>
          <p:nvPr/>
        </p:nvSpPr>
        <p:spPr>
          <a:xfrm>
            <a:off x="729046" y="3527854"/>
            <a:ext cx="110345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Reality: </a:t>
            </a:r>
            <a:r>
              <a:rPr lang="en-US" sz="3200" dirty="0"/>
              <a:t>extracting the correct answer from this giant superposition requires carefully engineering a pattern of constructive and destructive interference. There is </a:t>
            </a:r>
            <a:r>
              <a:rPr lang="en-US" sz="3200" dirty="0">
                <a:solidFill>
                  <a:schemeClr val="accent2"/>
                </a:solidFill>
              </a:rPr>
              <a:t>formal evidence </a:t>
            </a:r>
            <a:r>
              <a:rPr lang="en-US" sz="3200" dirty="0"/>
              <a:t>that this cannot be performed efficiently for every search problem.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ABBA8-08EB-9935-98A7-2A9B902FEBCF}"/>
              </a:ext>
            </a:extLst>
          </p:cNvPr>
          <p:cNvSpPr txBox="1"/>
          <p:nvPr/>
        </p:nvSpPr>
        <p:spPr>
          <a:xfrm>
            <a:off x="729047" y="1186249"/>
            <a:ext cx="104291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Common misconception: </a:t>
            </a:r>
            <a:r>
              <a:rPr lang="en-US" sz="3200" dirty="0"/>
              <a:t>A quantum computer can set up a superposition over all possible inputs, and then simply identify and output the correct one</a:t>
            </a:r>
          </a:p>
        </p:txBody>
      </p:sp>
    </p:spTree>
    <p:extLst>
      <p:ext uri="{BB962C8B-B14F-4D97-AF65-F5344CB8AC3E}">
        <p14:creationId xmlns:p14="http://schemas.microsoft.com/office/powerpoint/2010/main" val="104682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76FAE-CD65-8686-1634-C4771992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14" y="393924"/>
            <a:ext cx="10515600" cy="1035796"/>
          </a:xfrm>
        </p:spPr>
        <p:txBody>
          <a:bodyPr/>
          <a:lstStyle/>
          <a:p>
            <a:r>
              <a:rPr lang="en-US" dirty="0"/>
              <a:t>Quantum computing and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006E0-9797-6309-22E2-11EE1DD5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3793"/>
            <a:ext cx="10515600" cy="6333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two main cryptographic paradigms: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F2C06-CD40-51DF-68C5-DCEABD0AC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6" y="4261131"/>
            <a:ext cx="1230358" cy="1079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12FE6-E15A-FA77-E64C-93BF01EA7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031" y="4307009"/>
            <a:ext cx="1079691" cy="968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B3AE62-FD46-4BD9-FBFE-C22587F4A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84" y="5284488"/>
            <a:ext cx="700929" cy="382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01DA93-CBA0-A40F-B1C0-4F7881D02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411" y="5275357"/>
            <a:ext cx="700929" cy="38271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4ED18A-56CC-58BE-9FC7-4EFC1B510974}"/>
              </a:ext>
            </a:extLst>
          </p:cNvPr>
          <p:cNvCxnSpPr>
            <a:cxnSpLocks/>
          </p:cNvCxnSpPr>
          <p:nvPr/>
        </p:nvCxnSpPr>
        <p:spPr>
          <a:xfrm>
            <a:off x="1805247" y="4800314"/>
            <a:ext cx="164344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7D28A4-BF3D-240E-E0A4-6D767B2F58E3}"/>
              </a:ext>
            </a:extLst>
          </p:cNvPr>
          <p:cNvSpPr txBox="1"/>
          <p:nvPr/>
        </p:nvSpPr>
        <p:spPr>
          <a:xfrm>
            <a:off x="1566005" y="4791183"/>
            <a:ext cx="2202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 conversation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6416C4-F69F-065E-4300-4E572F40D6AF}"/>
              </a:ext>
            </a:extLst>
          </p:cNvPr>
          <p:cNvSpPr txBox="1"/>
          <p:nvPr/>
        </p:nvSpPr>
        <p:spPr>
          <a:xfrm>
            <a:off x="1099581" y="2573531"/>
            <a:ext cx="3983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Private-key cryptography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CFF41A-C963-174E-09C2-FF312624BEB7}"/>
              </a:ext>
            </a:extLst>
          </p:cNvPr>
          <p:cNvSpPr txBox="1"/>
          <p:nvPr/>
        </p:nvSpPr>
        <p:spPr>
          <a:xfrm>
            <a:off x="7607281" y="2556195"/>
            <a:ext cx="3889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Public-key cryptography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B1932E-AE85-3024-A986-72CD62760DEC}"/>
              </a:ext>
            </a:extLst>
          </p:cNvPr>
          <p:cNvSpPr txBox="1"/>
          <p:nvPr/>
        </p:nvSpPr>
        <p:spPr>
          <a:xfrm>
            <a:off x="428874" y="3274263"/>
            <a:ext cx="5359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An attack generally requires the eavesdropper to solve some </a:t>
            </a:r>
            <a:r>
              <a:rPr lang="en-US" sz="2000" i="1" dirty="0">
                <a:solidFill>
                  <a:schemeClr val="accent3"/>
                </a:solidFill>
              </a:rPr>
              <a:t>unstructured</a:t>
            </a:r>
            <a:r>
              <a:rPr lang="en-US" sz="2000" i="1" dirty="0"/>
              <a:t> search</a:t>
            </a:r>
            <a:r>
              <a:rPr lang="en-US" sz="2000" dirty="0"/>
              <a:t> problem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897D01-2931-7C01-9413-7532D5DCF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794" y="4270541"/>
            <a:ext cx="1230358" cy="10797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211CD3-B401-5D82-F977-0DABC220B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2589" y="4316419"/>
            <a:ext cx="1079691" cy="96834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DC064D-4038-CDA3-CDB7-A60DEB0D7324}"/>
              </a:ext>
            </a:extLst>
          </p:cNvPr>
          <p:cNvCxnSpPr>
            <a:cxnSpLocks/>
          </p:cNvCxnSpPr>
          <p:nvPr/>
        </p:nvCxnSpPr>
        <p:spPr>
          <a:xfrm>
            <a:off x="8651805" y="4809724"/>
            <a:ext cx="1643449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23BCC9-6C95-6144-C604-3F269F0E391A}"/>
              </a:ext>
            </a:extLst>
          </p:cNvPr>
          <p:cNvCxnSpPr/>
          <p:nvPr/>
        </p:nvCxnSpPr>
        <p:spPr>
          <a:xfrm>
            <a:off x="7931070" y="5577131"/>
            <a:ext cx="0" cy="4077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6287FE9-2587-4A94-E54C-864DEF3F99A7}"/>
              </a:ext>
            </a:extLst>
          </p:cNvPr>
          <p:cNvCxnSpPr/>
          <p:nvPr/>
        </p:nvCxnSpPr>
        <p:spPr>
          <a:xfrm>
            <a:off x="11197373" y="5472727"/>
            <a:ext cx="0" cy="4077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CEC9DFF-85FF-C46B-2DE4-D52144C1D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281" y="6077591"/>
            <a:ext cx="700929" cy="3827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5322799-EB90-F2DB-EA73-A94BC4D66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6908" y="6068460"/>
            <a:ext cx="700929" cy="3827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40D3DDC-37BD-AC6B-FF90-DF3EF6F9BCE8}"/>
              </a:ext>
            </a:extLst>
          </p:cNvPr>
          <p:cNvSpPr txBox="1"/>
          <p:nvPr/>
        </p:nvSpPr>
        <p:spPr>
          <a:xfrm>
            <a:off x="6980777" y="3335818"/>
            <a:ext cx="4782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attack generally requires the eavesdropper to solve some </a:t>
            </a:r>
            <a:r>
              <a:rPr lang="en-US" i="1" dirty="0">
                <a:solidFill>
                  <a:srgbClr val="C00000"/>
                </a:solidFill>
              </a:rPr>
              <a:t>structured</a:t>
            </a:r>
            <a:r>
              <a:rPr lang="en-US" i="1" dirty="0"/>
              <a:t> search</a:t>
            </a:r>
            <a:r>
              <a:rPr lang="en-US" dirty="0"/>
              <a:t> problem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25A053-1C55-E13A-3634-1DC46F050452}"/>
              </a:ext>
            </a:extLst>
          </p:cNvPr>
          <p:cNvCxnSpPr/>
          <p:nvPr/>
        </p:nvCxnSpPr>
        <p:spPr>
          <a:xfrm>
            <a:off x="2667204" y="4119049"/>
            <a:ext cx="0" cy="4962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FD08BB-8A97-53D2-2653-43B0C728E4C5}"/>
              </a:ext>
            </a:extLst>
          </p:cNvPr>
          <p:cNvCxnSpPr/>
          <p:nvPr/>
        </p:nvCxnSpPr>
        <p:spPr>
          <a:xfrm>
            <a:off x="9554036" y="4139437"/>
            <a:ext cx="0" cy="4962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FBF7F9-71F0-C53E-429E-2B0CDEAD6FC0}"/>
              </a:ext>
            </a:extLst>
          </p:cNvPr>
          <p:cNvSpPr txBox="1"/>
          <p:nvPr/>
        </p:nvSpPr>
        <p:spPr>
          <a:xfrm>
            <a:off x="8400774" y="4791183"/>
            <a:ext cx="214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agree on private key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914DE8-1556-A64C-9718-CFA2FD110A40}"/>
              </a:ext>
            </a:extLst>
          </p:cNvPr>
          <p:cNvSpPr txBox="1"/>
          <p:nvPr/>
        </p:nvSpPr>
        <p:spPr>
          <a:xfrm>
            <a:off x="958568" y="5701389"/>
            <a:ext cx="3556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(generally quantum-safe, though key sizes may need to double)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069D952-0C5A-3385-4C91-CE43EA2106BF}"/>
              </a:ext>
            </a:extLst>
          </p:cNvPr>
          <p:cNvSpPr/>
          <p:nvPr/>
        </p:nvSpPr>
        <p:spPr>
          <a:xfrm>
            <a:off x="6631744" y="1448261"/>
            <a:ext cx="5480413" cy="1079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two most widely implemented approaches to public-key cryptography, RSA and Diffie-Hellman, are quantum-broken</a:t>
            </a:r>
          </a:p>
        </p:txBody>
      </p:sp>
    </p:spTree>
    <p:extLst>
      <p:ext uri="{BB962C8B-B14F-4D97-AF65-F5344CB8AC3E}">
        <p14:creationId xmlns:p14="http://schemas.microsoft.com/office/powerpoint/2010/main" val="424003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2" grpId="0"/>
      <p:bldP spid="13" grpId="0"/>
      <p:bldP spid="15" grpId="0"/>
      <p:bldP spid="24" grpId="0"/>
      <p:bldP spid="29" grpId="0"/>
      <p:bldP spid="31" grpId="0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99A5-2AD6-8AA9-6311-EE5AAADC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508" y="369039"/>
            <a:ext cx="11804821" cy="1194922"/>
          </a:xfrm>
        </p:spPr>
        <p:txBody>
          <a:bodyPr/>
          <a:lstStyle/>
          <a:p>
            <a:r>
              <a:rPr lang="en-US" dirty="0"/>
              <a:t>So where are all the quantum breaks in practice?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ACB6-7898-3469-C1B1-FB6F72E1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08" y="1775167"/>
            <a:ext cx="7638535" cy="4713794"/>
          </a:xfrm>
        </p:spPr>
        <p:txBody>
          <a:bodyPr>
            <a:noAutofit/>
          </a:bodyPr>
          <a:lstStyle/>
          <a:p>
            <a:r>
              <a:rPr lang="en-US" sz="2400" dirty="0"/>
              <a:t>Quantum computers exist</a:t>
            </a:r>
          </a:p>
          <a:p>
            <a:endParaRPr lang="en-US" sz="2400" dirty="0"/>
          </a:p>
          <a:p>
            <a:r>
              <a:rPr lang="en-US" sz="2400" dirty="0"/>
              <a:t>But quantum information is extremely fragile</a:t>
            </a:r>
          </a:p>
          <a:p>
            <a:endParaRPr lang="en-US" sz="2400" dirty="0"/>
          </a:p>
          <a:p>
            <a:r>
              <a:rPr lang="en-US" sz="2400" dirty="0"/>
              <a:t>Stray interactions with the environment can completely spoil an in-progress quantum computation</a:t>
            </a:r>
          </a:p>
          <a:p>
            <a:endParaRPr lang="en-US" sz="2400" dirty="0"/>
          </a:p>
          <a:p>
            <a:r>
              <a:rPr lang="en-US" sz="2400" dirty="0"/>
              <a:t>Bottom line: quantum computers today cannot control enough qubits for enough time with sufficient noise-resilience to run Shor’s algorithm on cryptographic-scale inputs </a:t>
            </a:r>
          </a:p>
        </p:txBody>
      </p:sp>
      <p:pic>
        <p:nvPicPr>
          <p:cNvPr id="6146" name="Picture 2" descr="UW–Madison, industry partners run quantum algorithm on neutral atom quantum  computer for the first time – UW–Madison News">
            <a:extLst>
              <a:ext uri="{FF2B5EF4-FFF2-40B4-BE49-F238E27FC236}">
                <a16:creationId xmlns:a16="http://schemas.microsoft.com/office/drawing/2014/main" id="{945819A9-0B46-0DF8-9C25-C5085D799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517" y="1563961"/>
            <a:ext cx="2799277" cy="210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Quantum Computing Advance Begins New Era, IBM Says - The New York Times">
            <a:extLst>
              <a:ext uri="{FF2B5EF4-FFF2-40B4-BE49-F238E27FC236}">
                <a16:creationId xmlns:a16="http://schemas.microsoft.com/office/drawing/2014/main" id="{CA0F78E3-DCCC-C49E-E972-09B9513AB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511" y="3950836"/>
            <a:ext cx="1692083" cy="25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89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D5BD-BA8F-B501-37DB-F5A0A217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error-correction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EE3E2-2DC3-5DA1-BD89-A1B386E14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57" y="1986261"/>
            <a:ext cx="6266935" cy="4414537"/>
          </a:xfrm>
        </p:spPr>
        <p:txBody>
          <a:bodyPr>
            <a:normAutofit/>
          </a:bodyPr>
          <a:lstStyle/>
          <a:p>
            <a:r>
              <a:rPr lang="en-US" sz="2400" dirty="0"/>
              <a:t>We have known since the late ‘90s that, in theory, quantum computers can recover from environmental noise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idea is called quantum error-correction: spread the information we care about redundantly across several noise-prone qubits, and use this redundant encoding to </a:t>
            </a:r>
            <a:r>
              <a:rPr lang="en-US" sz="2400" b="1" dirty="0"/>
              <a:t>detect</a:t>
            </a:r>
            <a:r>
              <a:rPr lang="en-US" sz="2400" dirty="0"/>
              <a:t> and then </a:t>
            </a:r>
            <a:r>
              <a:rPr lang="en-US" sz="2400" b="1" dirty="0"/>
              <a:t>correct</a:t>
            </a:r>
            <a:r>
              <a:rPr lang="en-US" sz="2400" dirty="0"/>
              <a:t> errors as the computation proceeds</a:t>
            </a:r>
          </a:p>
          <a:p>
            <a:endParaRPr lang="en-US" sz="2400" dirty="0"/>
          </a:p>
        </p:txBody>
      </p:sp>
      <p:pic>
        <p:nvPicPr>
          <p:cNvPr id="5122" name="Picture 2" descr="A series of fast-paced advances in Quantum Error Correction | Nature  Reviews Physics">
            <a:extLst>
              <a:ext uri="{FF2B5EF4-FFF2-40B4-BE49-F238E27FC236}">
                <a16:creationId xmlns:a16="http://schemas.microsoft.com/office/drawing/2014/main" id="{4BFA9EB2-38A9-97A2-8DC8-E87D0E36B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53" y="1440699"/>
            <a:ext cx="3653566" cy="207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493CD2-7B19-05D1-435D-174139C7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376" y="3998389"/>
            <a:ext cx="2463576" cy="230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9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7F51-B016-AEFD-6E06-4F5A31FE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3040B-E07E-907B-4361-118EE69CBBEB}"/>
              </a:ext>
            </a:extLst>
          </p:cNvPr>
          <p:cNvSpPr txBox="1"/>
          <p:nvPr/>
        </p:nvSpPr>
        <p:spPr>
          <a:xfrm>
            <a:off x="838200" y="1603890"/>
            <a:ext cx="1010782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Implementing quantum error-correction is an enormous engineering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this goal has seen rapid progress over the past couple of years, on a variety of quantum computing platforms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9E3E2-CB5E-BD1F-2576-6C4166EE6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9" y="3761940"/>
            <a:ext cx="3709086" cy="1020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B6C5F7-F0F7-9028-DB1B-1DC81FE27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9" y="4968388"/>
            <a:ext cx="3400168" cy="1346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323FC5-ACFC-B74B-EF76-973A2B436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022" y="3797355"/>
            <a:ext cx="2584622" cy="949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EC6696-30E3-E7A1-93BA-E355B751C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860" y="4128598"/>
            <a:ext cx="2807043" cy="1038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858F9D-C14C-0580-BE4F-46C02A660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723" y="5339998"/>
            <a:ext cx="2366921" cy="13466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95BF31-3403-1112-6C84-BF47CEDBD2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198" y="3778127"/>
            <a:ext cx="4107083" cy="10206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0F230C-9A0C-CC80-89AC-00FD38F60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3741" y="4968388"/>
            <a:ext cx="3251886" cy="147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0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C02A-00E5-0473-7983-7D931D72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73" y="308920"/>
            <a:ext cx="11778049" cy="895264"/>
          </a:xfrm>
        </p:spPr>
        <p:txBody>
          <a:bodyPr>
            <a:normAutofit/>
          </a:bodyPr>
          <a:lstStyle/>
          <a:p>
            <a:r>
              <a:rPr lang="en-US" sz="3600" dirty="0"/>
              <a:t>So when does the threat to cryptography become practical?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9CB6-59CE-241A-E8DE-C856DAB06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95" y="1467279"/>
            <a:ext cx="11555627" cy="5168299"/>
          </a:xfrm>
        </p:spPr>
        <p:txBody>
          <a:bodyPr>
            <a:normAutofit fontScale="85000" lnSpcReduction="10000"/>
          </a:bodyPr>
          <a:lstStyle/>
          <a:p>
            <a:r>
              <a:rPr lang="en-US" sz="2600" dirty="0"/>
              <a:t>It is difficult to say exactly. But NIST recommends starting the quantum transition </a:t>
            </a:r>
            <a:r>
              <a:rPr lang="en-US" sz="2600" b="1" dirty="0"/>
              <a:t>now</a:t>
            </a:r>
          </a:p>
          <a:p>
            <a:endParaRPr lang="en-US" dirty="0"/>
          </a:p>
          <a:p>
            <a:r>
              <a:rPr lang="en-US" sz="2600" dirty="0"/>
              <a:t>An (in-progress) success story: Quantum-resistant standards for public-key cryptography</a:t>
            </a:r>
          </a:p>
          <a:p>
            <a:pPr marL="0" indent="0">
              <a:buNone/>
            </a:pPr>
            <a:endParaRPr lang="en-US" sz="2600" dirty="0"/>
          </a:p>
          <a:p>
            <a:pPr lvl="1"/>
            <a:r>
              <a:rPr lang="en-US" dirty="0"/>
              <a:t>Late ‘90s / early ‘00s: Researchers identified </a:t>
            </a:r>
            <a:r>
              <a:rPr lang="en-US" i="1" dirty="0"/>
              <a:t>lattices</a:t>
            </a:r>
            <a:r>
              <a:rPr lang="en-US" dirty="0"/>
              <a:t> as an alternative foundation for public-key cryptography. Based on our current understanding, quantum computer do </a:t>
            </a:r>
            <a:r>
              <a:rPr lang="en-US" b="1" dirty="0"/>
              <a:t>not</a:t>
            </a:r>
            <a:r>
              <a:rPr lang="en-US" dirty="0"/>
              <a:t> vastly outperform classical computers at solving lattice-based computational problems</a:t>
            </a:r>
          </a:p>
          <a:p>
            <a:pPr lvl="1"/>
            <a:r>
              <a:rPr lang="en-US" dirty="0"/>
              <a:t>2016: NIST publishes a call for post-quantum algorithms</a:t>
            </a:r>
          </a:p>
          <a:p>
            <a:pPr lvl="1"/>
            <a:r>
              <a:rPr lang="en-US" dirty="0"/>
              <a:t>2017-2023: Years of public testing, review, and revision</a:t>
            </a:r>
          </a:p>
          <a:p>
            <a:pPr lvl="1"/>
            <a:r>
              <a:rPr lang="en-US" dirty="0"/>
              <a:t>2024: The first three standards are chosen:</a:t>
            </a:r>
          </a:p>
          <a:p>
            <a:pPr lvl="2"/>
            <a:r>
              <a:rPr lang="en-US" sz="2400" dirty="0"/>
              <a:t>Key agreement: ML-KEM</a:t>
            </a:r>
          </a:p>
          <a:p>
            <a:pPr lvl="2"/>
            <a:r>
              <a:rPr lang="en-US" sz="2400" dirty="0"/>
              <a:t>Digital signatures: ML-DSA and SLH-DSA</a:t>
            </a:r>
          </a:p>
          <a:p>
            <a:pPr lvl="1"/>
            <a:r>
              <a:rPr lang="en-US" dirty="0"/>
              <a:t>Today: </a:t>
            </a:r>
          </a:p>
          <a:p>
            <a:pPr lvl="2"/>
            <a:r>
              <a:rPr lang="en-US" sz="2400" dirty="0"/>
              <a:t>Migration: ML-KEM already incorporated into TLS and many secure messaging protocols</a:t>
            </a:r>
          </a:p>
          <a:p>
            <a:pPr lvl="2"/>
            <a:r>
              <a:rPr lang="en-US" sz="2400" dirty="0"/>
              <a:t>More foundations, more testing…</a:t>
            </a:r>
          </a:p>
        </p:txBody>
      </p:sp>
    </p:spTree>
    <p:extLst>
      <p:ext uri="{BB962C8B-B14F-4D97-AF65-F5344CB8AC3E}">
        <p14:creationId xmlns:p14="http://schemas.microsoft.com/office/powerpoint/2010/main" val="303675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CA88-65F5-6863-68EA-8535248B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54" y="434542"/>
            <a:ext cx="10515600" cy="992747"/>
          </a:xfrm>
        </p:spPr>
        <p:txBody>
          <a:bodyPr/>
          <a:lstStyle/>
          <a:p>
            <a:r>
              <a:rPr lang="en-US" dirty="0"/>
              <a:t>An aside: Flipping the script?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0F586-C0FA-A7C6-E857-ABBF915CB5B0}"/>
              </a:ext>
            </a:extLst>
          </p:cNvPr>
          <p:cNvSpPr txBox="1"/>
          <p:nvPr/>
        </p:nvSpPr>
        <p:spPr>
          <a:xfrm>
            <a:off x="479854" y="1653142"/>
            <a:ext cx="112432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 the cryptocurrency space, we are mostly </a:t>
            </a:r>
            <a:r>
              <a:rPr lang="en-US" sz="2200" i="1" dirty="0"/>
              <a:t>concerned</a:t>
            </a:r>
            <a:r>
              <a:rPr lang="en-US" sz="2200" dirty="0"/>
              <a:t> with the advent of quantum computing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Quantum computers are a powerful technology – can we use them </a:t>
            </a:r>
            <a:r>
              <a:rPr lang="en-US" sz="2200" i="1" dirty="0"/>
              <a:t>constructively</a:t>
            </a:r>
            <a:r>
              <a:rPr lang="en-US" sz="22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More generally, research at the intersection of quantum information and cryptography is split into two branches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72609-050A-F00C-C3CE-03B498F002D4}"/>
              </a:ext>
            </a:extLst>
          </p:cNvPr>
          <p:cNvSpPr txBox="1"/>
          <p:nvPr/>
        </p:nvSpPr>
        <p:spPr>
          <a:xfrm>
            <a:off x="975566" y="4534924"/>
            <a:ext cx="4165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“Post-quantum cryptography”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F6BCD-BCD7-D846-23FC-C3CAF50B867F}"/>
              </a:ext>
            </a:extLst>
          </p:cNvPr>
          <p:cNvSpPr txBox="1"/>
          <p:nvPr/>
        </p:nvSpPr>
        <p:spPr>
          <a:xfrm>
            <a:off x="7285974" y="4522567"/>
            <a:ext cx="3526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“Quantum cryptography”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7E71E-3383-0E39-877C-D87E4D7E293F}"/>
              </a:ext>
            </a:extLst>
          </p:cNvPr>
          <p:cNvSpPr txBox="1"/>
          <p:nvPr/>
        </p:nvSpPr>
        <p:spPr>
          <a:xfrm>
            <a:off x="587569" y="5370724"/>
            <a:ext cx="49887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Classical honest parties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Goal: Protection against quantum attackers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63751-0614-905C-E9AF-B98E82291459}"/>
              </a:ext>
            </a:extLst>
          </p:cNvPr>
          <p:cNvSpPr txBox="1"/>
          <p:nvPr/>
        </p:nvSpPr>
        <p:spPr>
          <a:xfrm>
            <a:off x="6243575" y="5107802"/>
            <a:ext cx="54191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Honest parties with quantum computation and potentially quantum communication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Goal: New functionalities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1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5B6AE-4867-AEAE-1D60-61CF9A88A15A}"/>
              </a:ext>
            </a:extLst>
          </p:cNvPr>
          <p:cNvSpPr txBox="1"/>
          <p:nvPr/>
        </p:nvSpPr>
        <p:spPr>
          <a:xfrm>
            <a:off x="777684" y="1541854"/>
            <a:ext cx="10217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central tenant of quantum information states that it </a:t>
            </a:r>
            <a:r>
              <a:rPr lang="en-US" sz="2400"/>
              <a:t>is impossible, </a:t>
            </a:r>
            <a:r>
              <a:rPr lang="en-US" sz="2400" dirty="0"/>
              <a:t>in general, to copy an unknown quantum state: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B5F595-3B5C-4BFE-752A-76F524A3CFF5}"/>
                  </a:ext>
                </a:extLst>
              </p:cNvPr>
              <p:cNvSpPr txBox="1"/>
              <p:nvPr/>
            </p:nvSpPr>
            <p:spPr>
              <a:xfrm>
                <a:off x="1344844" y="2559183"/>
                <a:ext cx="7605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B5F595-3B5C-4BFE-752A-76F524A3C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844" y="2559183"/>
                <a:ext cx="760593" cy="523220"/>
              </a:xfrm>
              <a:prstGeom prst="rect">
                <a:avLst/>
              </a:prstGeom>
              <a:blipFill>
                <a:blip r:embed="rId2"/>
                <a:stretch>
                  <a:fillRect l="-6667" r="-500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80AD8B-487C-2970-205D-6F62FFD8395C}"/>
                  </a:ext>
                </a:extLst>
              </p:cNvPr>
              <p:cNvSpPr txBox="1"/>
              <p:nvPr/>
            </p:nvSpPr>
            <p:spPr>
              <a:xfrm>
                <a:off x="2972800" y="2563647"/>
                <a:ext cx="7605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80AD8B-487C-2970-205D-6F62FFD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800" y="2563647"/>
                <a:ext cx="760593" cy="523220"/>
              </a:xfrm>
              <a:prstGeom prst="rect">
                <a:avLst/>
              </a:prstGeom>
              <a:blipFill>
                <a:blip r:embed="rId3"/>
                <a:stretch>
                  <a:fillRect l="-5000" r="-5000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05BF82-C5DD-9C7D-DCCD-DEA13083BBFA}"/>
                  </a:ext>
                </a:extLst>
              </p:cNvPr>
              <p:cNvSpPr txBox="1"/>
              <p:nvPr/>
            </p:nvSpPr>
            <p:spPr>
              <a:xfrm>
                <a:off x="3543272" y="2559183"/>
                <a:ext cx="7605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05BF82-C5DD-9C7D-DCCD-DEA13083B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272" y="2559183"/>
                <a:ext cx="760593" cy="523220"/>
              </a:xfrm>
              <a:prstGeom prst="rect">
                <a:avLst/>
              </a:prstGeom>
              <a:blipFill>
                <a:blip r:embed="rId4"/>
                <a:stretch>
                  <a:fillRect l="-3279" r="-4918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A5900D-4DB1-7FCE-F15F-ADB7A121F657}"/>
              </a:ext>
            </a:extLst>
          </p:cNvPr>
          <p:cNvCxnSpPr>
            <a:cxnSpLocks/>
          </p:cNvCxnSpPr>
          <p:nvPr/>
        </p:nvCxnSpPr>
        <p:spPr>
          <a:xfrm>
            <a:off x="2110926" y="2849286"/>
            <a:ext cx="9191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ultiply 9">
            <a:extLst>
              <a:ext uri="{FF2B5EF4-FFF2-40B4-BE49-F238E27FC236}">
                <a16:creationId xmlns:a16="http://schemas.microsoft.com/office/drawing/2014/main" id="{21A2DF6A-A272-3B9E-1381-824386748B36}"/>
              </a:ext>
            </a:extLst>
          </p:cNvPr>
          <p:cNvSpPr/>
          <p:nvPr/>
        </p:nvSpPr>
        <p:spPr>
          <a:xfrm>
            <a:off x="2145796" y="2439716"/>
            <a:ext cx="760593" cy="842775"/>
          </a:xfrm>
          <a:prstGeom prst="mathMultiply">
            <a:avLst>
              <a:gd name="adj1" fmla="val 931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9C010A-2245-85BE-97D7-7C05EB8B5083}"/>
              </a:ext>
            </a:extLst>
          </p:cNvPr>
          <p:cNvSpPr txBox="1"/>
          <p:nvPr/>
        </p:nvSpPr>
        <p:spPr>
          <a:xfrm>
            <a:off x="737497" y="3343021"/>
            <a:ext cx="109692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Idea: encode money into </a:t>
            </a:r>
            <a:r>
              <a:rPr lang="en-US" sz="2400" i="1" dirty="0"/>
              <a:t>unclonable </a:t>
            </a:r>
            <a:r>
              <a:rPr lang="en-US" sz="2400" dirty="0"/>
              <a:t>quantum states to prevent double-spending.</a:t>
            </a:r>
          </a:p>
          <a:p>
            <a:endParaRPr lang="en-US" sz="2400" dirty="0"/>
          </a:p>
          <a:p>
            <a:r>
              <a:rPr lang="en-US" sz="2400" dirty="0"/>
              <a:t>This mechanism could be used as an alternative to the blockchain one day.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3F990C-4B82-9819-C4D5-2ED27698E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51" y="4874545"/>
            <a:ext cx="3090235" cy="15912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0036A8-3426-7BE6-D536-147781163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3458" y="5413365"/>
            <a:ext cx="5300677" cy="12086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40DB7B-43BE-06CF-D9BB-B85AAA30A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6932" y="4809072"/>
            <a:ext cx="4438135" cy="11095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7BCDD1-F0D8-B606-AE93-7827923809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0265" y="5295092"/>
            <a:ext cx="4215714" cy="11746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960B99-25DD-CA6F-8248-1E2FD37021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8181" y="4714823"/>
            <a:ext cx="3440925" cy="1751003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B8F8613-3A65-7DE9-E5CA-7694ED981117}"/>
              </a:ext>
            </a:extLst>
          </p:cNvPr>
          <p:cNvSpPr txBox="1">
            <a:spLocks/>
          </p:cNvSpPr>
          <p:nvPr/>
        </p:nvSpPr>
        <p:spPr>
          <a:xfrm>
            <a:off x="479854" y="434542"/>
            <a:ext cx="10515600" cy="992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Quantum no-cloning</a:t>
            </a:r>
          </a:p>
        </p:txBody>
      </p:sp>
    </p:spTree>
    <p:extLst>
      <p:ext uri="{BB962C8B-B14F-4D97-AF65-F5344CB8AC3E}">
        <p14:creationId xmlns:p14="http://schemas.microsoft.com/office/powerpoint/2010/main" val="5950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5907</TotalTime>
  <Words>884</Words>
  <Application>Microsoft Macintosh PowerPoint</Application>
  <PresentationFormat>Widescreen</PresentationFormat>
  <Paragraphs>122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AkayaTelivigala</vt:lpstr>
      <vt:lpstr>Aptos</vt:lpstr>
      <vt:lpstr>Aptos Display</vt:lpstr>
      <vt:lpstr>Arial</vt:lpstr>
      <vt:lpstr>Cambria Math</vt:lpstr>
      <vt:lpstr>Courier New</vt:lpstr>
      <vt:lpstr>Office Theme</vt:lpstr>
      <vt:lpstr>Overview of Quantum Computing</vt:lpstr>
      <vt:lpstr>What is a Quantum Computer?</vt:lpstr>
      <vt:lpstr>Superposition</vt:lpstr>
      <vt:lpstr>Interference</vt:lpstr>
      <vt:lpstr>Entanglement</vt:lpstr>
      <vt:lpstr>Why do we care? </vt:lpstr>
      <vt:lpstr>BUT…not all problems admit a dramatic quantum shortcut</vt:lpstr>
      <vt:lpstr>PowerPoint Presentation</vt:lpstr>
      <vt:lpstr>Quantum computing and cryptography</vt:lpstr>
      <vt:lpstr>So where are all the quantum breaks in practice?</vt:lpstr>
      <vt:lpstr>Quantum error-correction</vt:lpstr>
      <vt:lpstr>Recent progress</vt:lpstr>
      <vt:lpstr>So when does the threat to cryptography become practical?</vt:lpstr>
      <vt:lpstr>An aside: Flipping the script?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Bartusek</dc:creator>
  <cp:lastModifiedBy>James Bartusek</cp:lastModifiedBy>
  <cp:revision>38</cp:revision>
  <dcterms:created xsi:type="dcterms:W3CDTF">2026-10-23T18:46:45Z</dcterms:created>
  <dcterms:modified xsi:type="dcterms:W3CDTF">2026-10-27T21:14:43Z</dcterms:modified>
</cp:coreProperties>
</file>